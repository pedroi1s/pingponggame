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PARCIAL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PingPongGame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Roulette Pong — Pong 3D com servidor autoritativo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1463040" cy="36576"/>
          </a:xfrm>
          <a:prstGeom prst="rect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94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Mariano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Jogos e Simulação · 7º semestre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LibGDX · LWJGL3 · Java 17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0" y="1463040"/>
            <a:ext cx="2377440" cy="3931920"/>
          </a:xfrm>
          <a:prstGeom prst="rect">
            <a:avLst/>
          </a:prstGeom>
          <a:solidFill>
            <a:srgbClr val="0E20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4663440"/>
            <a:ext cx="2377440" cy="731520"/>
          </a:xfrm>
          <a:prstGeom prst="rect">
            <a:avLst/>
          </a:prstGeom>
          <a:solidFill>
            <a:srgbClr val="0A1419"/>
          </a:solidFill>
          <a:ln w="12700">
            <a:solidFill>
              <a:srgbClr val="0A14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64040" y="3657600"/>
            <a:ext cx="1737360" cy="274320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0" y="3383280"/>
            <a:ext cx="1828800" cy="36576"/>
          </a:xfrm>
          <a:prstGeom prst="rect">
            <a:avLst/>
          </a:prstGeom>
          <a:solidFill>
            <a:srgbClr val="E8C06A"/>
          </a:solidFill>
          <a:ln w="12700">
            <a:solidFill>
              <a:srgbClr val="E8C0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04120" y="2971800"/>
            <a:ext cx="365760" cy="365760"/>
          </a:xfrm>
          <a:prstGeom prst="ellipse">
            <a:avLst/>
          </a:prstGeom>
          <a:solidFill>
            <a:srgbClr val="F4FBFF"/>
          </a:solidFill>
          <a:ln w="12700">
            <a:solidFill>
              <a:srgbClr val="F4F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8128" y="1691640"/>
            <a:ext cx="329184" cy="329184"/>
          </a:xfrm>
          <a:prstGeom prst="ellipse">
            <a:avLst/>
          </a:prstGeom>
          <a:solidFill>
            <a:srgbClr val="D89F66"/>
          </a:solidFill>
          <a:ln w="12700">
            <a:solidFill>
              <a:srgbClr val="D89F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 da apresentação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do jogo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0" y="17099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escopo e estado atual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384048" cy="384048"/>
          </a:xfrm>
          <a:prstGeom prst="ellipse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76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e ciclo de vida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22768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→ GameContext → Screens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384048" cy="384048"/>
          </a:xfrm>
          <a:prstGeom prst="ellipse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43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Câmeras e Rendering 3D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28437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Perspective, FitViewport, FBO retro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84048" cy="384048"/>
          </a:xfrm>
          <a:prstGeom prst="ellipse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Treatment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34107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Pick-ray, processors, multiplayer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005072"/>
            <a:ext cx="384048" cy="384048"/>
          </a:xfrm>
          <a:prstGeom prst="ellipse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Som, Atlas procedural e Memória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52160" y="3977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AssetManager, Pool, dispose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Multiplayer autoritativo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52160" y="45445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binário, host + cliente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138928"/>
            <a:ext cx="384048" cy="384048"/>
          </a:xfrm>
          <a:prstGeom prst="ellipse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5111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+ próximos passos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52160" y="51114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Pong 3D com estética retro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Reimaginação do Pong em 3D, com câmera em perspectiva, física simplificada do estilo "raquetada de ping-pong" e estética inspirada em Buckshot Roulette (paleta de 16 cores, dither e aberração cromática via pós-processamento).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JOGO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Single-player vs. bot com IA paramétrica (chance de retorno calculada por dificuldade, escala do alvo, velocidade)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LAN com servidor autoritativo (TCP binário) — Fase 2 em curso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pause, configurações persistentes (resolução retro, vignette, dither)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691640"/>
            <a:ext cx="4846320" cy="4434840"/>
          </a:xfrm>
          <a:prstGeom prst="rect">
            <a:avLst/>
          </a:prstGeom>
          <a:solidFill>
            <a:srgbClr val="F9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691640"/>
            <a:ext cx="73152" cy="4434840"/>
          </a:xfrm>
          <a:prstGeom prst="rect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874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técnica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088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LibGDX 1.13 · LWJGL3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17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3D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ModelBatch + ModelBuilder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2D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SpriteBatch + FitViewport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Pós-process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4297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FrameBuffer + GLSL custom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4754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AssetManager Sound/Music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5212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DataIn/OutputStream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e ciclo de vida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Lwjgl3Launcher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LWJGL3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1783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extends Game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Navegação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148840"/>
            <a:ext cx="5486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1828800" cy="731520"/>
          </a:xfrm>
          <a:prstGeom prst="rect">
            <a:avLst/>
          </a:prstGeom>
          <a:solidFill>
            <a:srgbClr val="F9F7F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Singletons compartilhados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2514600"/>
            <a:ext cx="-237744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26080" y="2880360"/>
            <a:ext cx="1828800" cy="731520"/>
          </a:xfrm>
          <a:prstGeom prst="rect">
            <a:avLst/>
          </a:prstGeom>
          <a:solidFill>
            <a:srgbClr val="F9F7F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GameSettings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Persistência prefs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25146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977640"/>
            <a:ext cx="960120" cy="640080"/>
          </a:xfrm>
          <a:prstGeom prst="rect">
            <a:avLst/>
          </a:prstGeom>
          <a:solidFill>
            <a:srgbClr val="F9F7F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69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LoadingScreen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54480" y="3977640"/>
            <a:ext cx="960120" cy="640080"/>
          </a:xfrm>
          <a:prstGeom prst="rect">
            <a:avLst/>
          </a:prstGeom>
          <a:solidFill>
            <a:srgbClr val="F9F7F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4069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MenuScreen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60320" y="3977640"/>
            <a:ext cx="960120" cy="640080"/>
          </a:xfrm>
          <a:prstGeom prst="rect">
            <a:avLst/>
          </a:prstGeom>
          <a:solidFill>
            <a:srgbClr val="F9F7F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4069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MatchScreen3D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66160" y="3977640"/>
            <a:ext cx="960120" cy="640080"/>
          </a:xfrm>
          <a:prstGeom prst="rect">
            <a:avLst/>
          </a:prstGeom>
          <a:solidFill>
            <a:srgbClr val="F9F7F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4069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NetMatchScreen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3977640"/>
            <a:ext cx="960120" cy="640080"/>
          </a:xfrm>
          <a:prstGeom prst="rect">
            <a:avLst/>
          </a:prstGeom>
          <a:solidFill>
            <a:srgbClr val="F9F7F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069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ConfigScreen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690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(Game.setScreen)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2514600"/>
            <a:ext cx="-731520" cy="1463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76656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MÍNIMO NO MAIN.CREATE()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2103120"/>
            <a:ext cx="4846320" cy="2560320"/>
          </a:xfrm>
          <a:prstGeom prst="rect">
            <a:avLst/>
          </a:prstGeom>
          <a:solidFill>
            <a:srgbClr val="F4F4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2212848"/>
            <a:ext cx="451713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create()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new GameContext();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context.getAssets().queueCoreAssets();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context.getSettings().applyWindowMode();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context.applySettings();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setScreen(new LoadingScreen(this));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4800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APLICADOS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51206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 fino — Main é só roteamento de telas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GameContext concentra recursos vivos do app inteiro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implementam show/render/hide/dispose corretamente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&amp; RENDERING ·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Câmeras: 3D perspective + HUD ortográfico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CÂMERAS COEXISTINDO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PerspectiveCamera (60° FOV, near 0.1, far 100) — usada pelo ModelBatch para a cena 3D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OrthographicCamera + FitViewport(1280×720) — espaço lógico fixo para o HUD em SpriteBatch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SpriteBatch é usado pelo pós-processamento para fazer o blit do FBO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FIXA ATRÁS DO JOGADOR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= alvo + (0, 2.5, 11). O olhar é estável: o jogador não controla a câmera, mas o cursor é projetado sobre a mesa via unproject() para o anel de mira.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PERSPECTIVECAMERA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2103120"/>
            <a:ext cx="4846320" cy="1417320"/>
          </a:xfrm>
          <a:prstGeom prst="rect">
            <a:avLst/>
          </a:prstGeom>
          <a:solidFill>
            <a:srgbClr val="F4F4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1152" y="2212848"/>
            <a:ext cx="45171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camera3D = new PerspectiveCamera(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60f, Gdx.graphics.getWidth(),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Gdx.graphics.getHeight());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camera3D.near = 0.1f; camera3D.far = 100f;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camera3D.position.set(target).add(offset);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camera3D.lookAt(target);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camera3D.up.set(0f, 1f, 0f);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camera3D.update();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3657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DO HUD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3977640"/>
            <a:ext cx="4846320" cy="1463040"/>
          </a:xfrm>
          <a:prstGeom prst="rect">
            <a:avLst/>
          </a:prstGeom>
          <a:solidFill>
            <a:srgbClr val="F4F4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4087368"/>
            <a:ext cx="45171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GameContext.java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OrthographicCamera camera = ...;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FitViewport viewport = new FitViewport(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GameConfig.WORLD_WIDTH,   // 1280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GameConfig.WORLD_HEIGHT,  // 720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camera);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viewport.apply(true);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5532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DE AULA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5852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≠ Camera: a câmera define o ponto de vista; o viewport decide como o mundo lógico é mapeado para a janela física.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&amp; RENDERING ·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render com pós-processamento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A6E5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begin() FBO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7830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0E20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ModelBatch 3D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7830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0E20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SpriteBatch HUD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1783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A03B3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endAndBlit()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75520" y="17830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D89F6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buffer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1031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21031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32320" y="21031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0" y="21031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48640" y="2560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entre begin() e endAndBlit() cai no FrameBuffer offscreen. O shader retro.frag aplica pixelation, quantização para 16 cores, dither, vignette e aberração cromática no caminho de volta ao back-buffer.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RENDER POR FRAME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669280" cy="2468880"/>
          </a:xfrm>
          <a:prstGeom prst="rect">
            <a:avLst/>
          </a:prstGeom>
          <a:solidFill>
            <a:srgbClr val="F4F4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50208"/>
            <a:ext cx="534009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context.getPostProcess().begin();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ScreenUtils.clear(0.02f, 0.05f, 0.07f, 1f, 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Gdx.gl.glEnable(GL20.GL_DEPTH_TEST);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modelBatch.begin(camera3D);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modelBatch.render(floorInstance,  environment);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modelBatch.render(tableInstance,  environment);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modelBatch.render(netInstance,    environment);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(world.isBallVisible())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modelBatch.render(ballInstance, environment);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modelBatch.end();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Gdx.gl.glDisable(GL20.GL_DEPTH_TEST);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context.getViewport().apply(true);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batch.begin(); drawHud(batch); batch.end();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context.getPostProcess().endAndBlit();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OFFSCREEN?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840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aplicar o shader em UMA única imagem final (3D + HUD)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FBO no tamanho do back-buffer evita o bug de Retina ("só pinta o canto inferior esquerdo")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16 cores enviada como uniform — coerente com o estilo Buckshot Roulette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1 quad full-screen — barato em GPUs modernas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TREATMENT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Tratamento de input — do clique ao impulso 3D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 CLIQUE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InputProcessor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3500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Screen registra seu próprio InputAdapter em Gdx.input.setInputProcessor()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1729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touchDown(screenX, screenY) — em pixels da janela, origem no topo-esquerdo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PickRay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99592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camera3D.getPickRay(x, y) gera um Ray em coordenadas de mundo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Interseção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8188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Intersector.intersectRaySphere(ray, ballPos, hitRadius, hitPoint)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365760" cy="365760"/>
          </a:xfrm>
          <a:prstGeom prst="ellipse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no mundo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641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MatchWorld3D.tryHitBall() devolve a bola com vetor dependente do offset do clique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INPUTADAPTER LOCAL DA TELA 3D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103120"/>
            <a:ext cx="4846320" cy="1600200"/>
          </a:xfrm>
          <a:prstGeom prst="rect">
            <a:avLst/>
          </a:prstGeom>
          <a:solidFill>
            <a:srgbClr val="F4F4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212848"/>
            <a:ext cx="451713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 public boolean touchDown(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sx, int sy, int p, int btn)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lastClickX = sx; lastClickY = sy;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clickRequested =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PICK-RAY + INTERSECÇÃO COM A BOLA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4114800"/>
            <a:ext cx="4846320" cy="2240280"/>
          </a:xfrm>
          <a:prstGeom prst="rect">
            <a:avLst/>
          </a:prstGeom>
          <a:solidFill>
            <a:srgbClr val="F4F4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4224528"/>
            <a:ext cx="451713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MatchScreen3D.render()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 ray = camera3D.getPickRay(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input.lastClickX, input.lastClickY);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world.tryHitBall(ray);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MatchWorld3D.tryHitBall()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(!Intersector.intersectRaySphere(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ray, ballPos, hitRadius, hitPoint))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TREATMENT · REFINAMENTOS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em três contextos distintos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91440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/ Pause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MenuInputProcessor reage a ENTER, SPACE, M, e a qualquer touchDown.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usam hit-test 2D no espaço do FitViewport (cursor projetado via unproject).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screen instala o seu processor em show() e remove em hide().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783080"/>
            <a:ext cx="3657600" cy="91440"/>
          </a:xfrm>
          <a:prstGeom prst="rect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3D — pick-ray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vira um Ray em coordenadas de mundo via PerspectiveCamera.getPickRay.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 dilatado com CLICK_HIT_PADDING (3.5x) para tornar o clique mais perdoante.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offset do hit (x, y) na bola define o impulso de retorno (mira analógica).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78308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783080"/>
            <a:ext cx="3657600" cy="91440"/>
          </a:xfrm>
          <a:prstGeom prst="rect">
            <a:avLst/>
          </a:prstGeom>
          <a:solidFill>
            <a:srgbClr val="D89F66"/>
          </a:solidFill>
          <a:ln w="12700">
            <a:solidFill>
              <a:srgbClr val="D89F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Lobby multiplayer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49640" y="265176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de texto in-game para digitar o IP — substitui getTextInput().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do deadlock LWJGL3 ↔ AWT no macOS (Swing precisa da main thread).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keyTyped() valida dígitos/ponto; ENTER conecta, ESC cancela.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110642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· ATLAS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Áudio, atlas procedural e gestão de memória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4389120"/>
          </a:xfrm>
          <a:prstGeom prst="rect">
            <a:avLst/>
          </a:prstGeom>
          <a:solidFill>
            <a:srgbClr val="F9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4389120"/>
          </a:xfrm>
          <a:prstGeom prst="rect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Áudio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AssetManager carrega 2 Sound (.mp3) e 1 Music em background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consumePaddleHitEvent() / consumeTableBounceEvent() — drenagem de flags do mundo, evita emitir som duas vezes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em loop com volume 0.25; hide() para a música ao sair da tela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rede, o servidor envia SFX_PADDLE / SFX_TABLE para sincronizar áudio entre clientes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657600" cy="4389120"/>
          </a:xfrm>
          <a:prstGeom prst="rect">
            <a:avLst/>
          </a:prstGeom>
          <a:solidFill>
            <a:srgbClr val="F9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783080"/>
            <a:ext cx="73152" cy="4389120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Texturas procedurais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ProceduralAssets cria 6 texturas em Pixmap no startup — sem imagens em disco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customizado registrado no AssetManager (setLoader)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Nearest para coerência pixel-art; wrap Repeat no ruído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Glow, anel de mira, painel, fundo gradiente — todos compartilhados pelas screens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783080"/>
            <a:ext cx="3657600" cy="4389120"/>
          </a:xfrm>
          <a:prstGeom prst="rect">
            <a:avLst/>
          </a:prstGeom>
          <a:solidFill>
            <a:srgbClr val="F9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783080"/>
            <a:ext cx="73152" cy="4389120"/>
          </a:xfrm>
          <a:prstGeom prst="rect">
            <a:avLst/>
          </a:prstGeom>
          <a:solidFill>
            <a:srgbClr val="D89F66"/>
          </a:solidFill>
          <a:ln w="12700">
            <a:solidFill>
              <a:srgbClr val="D89F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Memória &amp; ciclo de vida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49640" y="256032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de Disposable em todo recurso GL (Texture, FBO, Model, Shader, Sound)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Pool&lt;ImpactParticle3D&gt; reutiliza partículas — zero alocação por hit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libgdx (Array, Vector3 buffers) reaproveitam memória entre frames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GameContext.dispose() faz cascata: settings.save → assets → fonts → postProcess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Multiplayer LAN com servidor autoritativo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0" cy="1234440"/>
          </a:xfrm>
          <a:prstGeom prst="rect">
            <a:avLst/>
          </a:prstGeom>
          <a:solidFill>
            <a:srgbClr val="0E20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(NetMatchScreen)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Render-only · envia HIT / SERVE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6280" y="1783080"/>
            <a:ext cx="3108960" cy="1234440"/>
          </a:xfrm>
          <a:prstGeom prst="rect">
            <a:avLst/>
          </a:prstGeom>
          <a:solidFill>
            <a:srgbClr val="A03B3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286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Física a 60 Hz · broadcast STATE a 30 Hz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1783080"/>
            <a:ext cx="3108960" cy="1234440"/>
          </a:xfrm>
          <a:prstGeom prst="rect">
            <a:avLst/>
          </a:prstGeom>
          <a:solidFill>
            <a:srgbClr val="0E20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(NetMatchScreen)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2286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Render-only · câmera em -Z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2240280"/>
            <a:ext cx="8686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1775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/ SERVE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606040"/>
            <a:ext cx="-8686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1775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/ SFX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240280"/>
            <a:ext cx="8686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1551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/ SFX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2606040"/>
            <a:ext cx="-8686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1551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/ SERVE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BINÁRIO (PACKETTYPE)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669280" cy="2606040"/>
          </a:xfrm>
          <a:prstGeom prst="rect">
            <a:avLst/>
          </a:prstGeom>
          <a:solidFill>
            <a:srgbClr val="F4F4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813048"/>
            <a:ext cx="534009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 → 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                                     0x01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(playerNumber:1)                    0x02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(px,py,pz,vx,vy,vz, p1l,p2l, vis,ap)  0x03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GAME_OVER (winner)                          0x04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 (type)                                  0x05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 →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/ SERVE / BYE                         0x10..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(vx, vy, vz)                            0x12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383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DESIGN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70332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headless: roda DENTRO do host como daemon thread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NÃO simula física — apenas dead-reckoning entre snapshots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rollback / prediction: latência LAN &lt; 5 ms torna injustificável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despachados via Gdx.app.postRunnable → callbacks na GL thread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em vídeo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7863840" cy="4434840"/>
          </a:xfrm>
          <a:prstGeom prst="rect">
            <a:avLst/>
          </a:prstGeom>
          <a:solidFill>
            <a:srgbClr val="0E20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3406140"/>
            <a:ext cx="1188720" cy="1188720"/>
          </a:xfrm>
          <a:prstGeom prst="ellipse">
            <a:avLst/>
          </a:prstGeom>
          <a:solidFill>
            <a:srgbClr val="FFFFFF">
              <a:alpha val="2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9080" y="33604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B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o vídeo da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0" y="2103120"/>
            <a:ext cx="2743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 configurações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Single-player vs. bot — clique no pick-ray e rallies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LAN entre duas instâncias (host + cliente)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do pós-process retro on/off para comparação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e correlação com a disciplina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DA DISCIPLINA EXERCITADOS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73152" cy="292608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Módulos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GameContext · Screens · show/render/hide/dispose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73152" cy="292608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&amp; Rendering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PerspectiveCamera + FitViewport + FrameBuffer + GLSL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73152" cy="292608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Treatment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InputAdapter, getPickRay, unproject, AWT fix no macOS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73152" cy="292608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Atlas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ProceduralAssets com Pixmap + Loader customizado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73152" cy="292608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Disposable, Pool&lt;ImpactParticle3D&gt;, buffers reaproveitados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73152" cy="292608"/>
          </a:xfrm>
          <a:prstGeom prst="rect">
            <a:avLst/>
          </a:prstGeom>
          <a:solidFill>
            <a:srgbClr val="1A6E5F"/>
          </a:solidFill>
          <a:ln w="12700">
            <a:solidFill>
              <a:srgbClr val="1A6E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17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e Música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vs Music, eventos drenados do mundo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ATÉ A ENTREGA FINAL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Fase 2 do multiplayer: SFX sincronizado e indicador visual de "sua vez"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Reintroduzir sistema de itens (loadout) entre pontos — afeta IA do bot e a janela de leitura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fim de partida + estatísticas de rally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atlas procedural (logo, ícones de status) e migrar para um TextureAtlas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de hot-spots de performance — profile do post-process em telas grandes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A03B3B"/>
          </a:solidFill>
          <a:ln w="12700">
            <a:solidFill>
              <a:srgbClr val="A0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·  Perguntas?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PingPongGame · Aim Roulette Pong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PingPongGame — Apresentação Parcial</dc:title>
  <dc:subject>PptxGenJS Presentation</dc:subject>
  <dc:creator>Pedro Mariano</dc:creator>
  <cp:lastModifiedBy>Pedro Mariano</cp:lastModifiedBy>
  <cp:revision>1</cp:revision>
  <dcterms:created xsi:type="dcterms:W3CDTF">2026-05-14T02:25:06Z</dcterms:created>
  <dcterms:modified xsi:type="dcterms:W3CDTF">2026-05-14T02:25:06Z</dcterms:modified>
</cp:coreProperties>
</file>