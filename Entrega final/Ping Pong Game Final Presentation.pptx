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APRESENTAÇÃO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7315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1A1A1A"/>
                </a:solidFill>
                <a:latin typeface="Georgia"/>
              </a:rPr>
              <a:t>PingPongGame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8036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C2C2C"/>
                </a:solidFill>
                <a:latin typeface="Calibri"/>
              </a:rPr>
              <a:t>Aim Roulette Pong — física de verdade, servidor autoritativo</a:t>
            </a:r>
          </a:p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C2C2C"/>
                </a:solidFill>
                <a:latin typeface="Calibri"/>
              </a:rPr>
              <a:t>e um sistema de itens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931920"/>
            <a:ext cx="1463040" cy="36576"/>
          </a:xfrm>
          <a:prstGeom prst="rect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8229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C2C2C"/>
                </a:solidFill>
                <a:latin typeface="Calibri"/>
              </a:rPr>
              <a:t>Pedro Mariano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Calibri"/>
              </a:rPr>
              <a:t>Desenvolvimento de Jogos e Simulação · 7º semestre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83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280"/>
                </a:solidFill>
                <a:latin typeface="Consolas"/>
              </a:rPr>
              <a:t>LibGDX · LWJGL3 · Java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Julho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0" y="1463040"/>
            <a:ext cx="2377440" cy="3931920"/>
          </a:xfrm>
          <a:prstGeom prst="rect">
            <a:avLst/>
          </a:prstGeom>
          <a:solidFill>
            <a:srgbClr val="0E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0" y="4663440"/>
            <a:ext cx="2377440" cy="731520"/>
          </a:xfrm>
          <a:prstGeom prst="rect">
            <a:avLst/>
          </a:prstGeom>
          <a:solidFill>
            <a:srgbClr val="0A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3657600"/>
            <a:ext cx="1737360" cy="274320"/>
          </a:xfrm>
          <a:prstGeom prst="rect">
            <a:avLst/>
          </a:prstGeom>
          <a:solidFill>
            <a:srgbClr val="1A6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8320" y="3383280"/>
            <a:ext cx="1828800" cy="36576"/>
          </a:xfrm>
          <a:prstGeom prst="rect">
            <a:avLst/>
          </a:prstGeom>
          <a:solidFill>
            <a:srgbClr val="E8C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04120" y="2971800"/>
            <a:ext cx="365760" cy="365760"/>
          </a:xfrm>
          <a:prstGeom prst="ellipse">
            <a:avLst/>
          </a:prstGeom>
          <a:solidFill>
            <a:srgbClr val="F4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68128" y="1691640"/>
            <a:ext cx="329184" cy="329184"/>
          </a:xfrm>
          <a:prstGeom prst="ellipse">
            <a:avLst/>
          </a:prstGeom>
          <a:solidFill>
            <a:srgbClr val="D89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A03B3B"/>
                </a:solidFill>
                <a:latin typeface="Calibri"/>
              </a:rPr>
              <a:t>ONDE PARAMOS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O que a parcial já entregou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2743200" cy="86868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911095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Ciclo de vida &amp; telas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4028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onsolas"/>
              </a:rPr>
              <a:t>Main · GameContext · Screens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783080"/>
            <a:ext cx="2743200" cy="86868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911095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Câmeras 3D + HUD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224028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onsolas"/>
              </a:rPr>
              <a:t>Perspective + FitViewport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34639"/>
            <a:ext cx="2743200" cy="86868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962656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Shader retrô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91839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onsolas"/>
              </a:rPr>
              <a:t>FrameBuffer + GLSL 16 cores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834639"/>
            <a:ext cx="2743200" cy="86868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2962656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Input por pick-ray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3291839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onsolas"/>
              </a:rPr>
              <a:t>getPickRay + ray-sphere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86200"/>
            <a:ext cx="2743200" cy="86868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4014215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Áudio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4340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onsolas"/>
              </a:rPr>
              <a:t>AssetManager Sound/Music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886200"/>
            <a:ext cx="2743200" cy="86868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9312" y="4014215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Atlas procedural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434340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onsolas"/>
              </a:rPr>
              <a:t>Pixmap + loader custom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37759"/>
            <a:ext cx="2743200" cy="86868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065775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Memória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394959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onsolas"/>
              </a:rPr>
              <a:t>Pool + Disposable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4937759"/>
            <a:ext cx="2743200" cy="86868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9312" y="5065775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Multiplayer 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9312" y="5394959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onsolas"/>
              </a:rPr>
              <a:t>visão de alto nível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1783080"/>
            <a:ext cx="4846320" cy="301752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66560" y="1783080"/>
            <a:ext cx="73152" cy="3017520"/>
          </a:xfrm>
          <a:prstGeom prst="rect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2011680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A03B3B"/>
                </a:solidFill>
                <a:latin typeface="Calibri"/>
              </a:rPr>
              <a:t>O PEDIDO DO PROFESSOR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377440"/>
            <a:ext cx="4343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1A1A1A"/>
                </a:solidFill>
                <a:latin typeface="Georgia"/>
              </a:rPr>
              <a:t>“Priorizar o que não apareceu</a:t>
            </a:r>
          </a:p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1A1A1A"/>
                </a:solidFill>
                <a:latin typeface="Georgia"/>
              </a:rPr>
              <a:t>na parcial.”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337560"/>
            <a:ext cx="4343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C2C2C"/>
                </a:solidFill>
                <a:latin typeface="Calibri"/>
              </a:rPr>
              <a:t>Então nada disso será re-explicado: um slide de recap e o resto do tempo nos três mergulhos onde o trabalho ficou mais novo e mais profundo.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074920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Tudo ao lado segue funcionando no jogo final </a:t>
            </a:r>
            <a:r>
              <a:rPr sz="1300" b="0" i="1">
                <a:solidFill>
                  <a:srgbClr val="6B7280"/>
                </a:solidFill>
                <a:latin typeface="Calibri"/>
              </a:rPr>
              <a:t>— e várias dessas peças voltam a aparecer hoje (o shader vira alvo de um item; o pick-ray vira anti-cheat).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446520"/>
            <a:ext cx="11064240" cy="11887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PingPongGame · Aim Roulette Pong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651052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Slide 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A03B3B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Três mergulhos no que é novo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96795"/>
            <a:ext cx="384048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556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Georgia"/>
              </a:rPr>
              <a:t>Física reconstruída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819656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paper (Sensors 2020) · integrador 240 Hz · quique com spin · clique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423160"/>
            <a:ext cx="384048" cy="384048"/>
          </a:xfrm>
          <a:prstGeom prst="ellipse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36876"/>
            <a:ext cx="384048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9572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Georgia"/>
              </a:rPr>
              <a:t>Redes por dentro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459736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servidor autoritativo · protocolo binário · anti-cheat · dead reckoning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063239"/>
            <a:ext cx="384048" cy="384048"/>
          </a:xfrm>
          <a:prstGeom prst="ellipse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76956"/>
            <a:ext cx="384048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0358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Georgia"/>
              </a:rPr>
              <a:t>Sistema de itens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099815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fase entre pontos · nove itens · moscas · log de eventos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703320"/>
            <a:ext cx="384048" cy="384048"/>
          </a:xfrm>
          <a:prstGeom prst="ellipse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17035"/>
            <a:ext cx="384048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675887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Georgia"/>
              </a:rPr>
              <a:t>Engenharia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739896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módulos · testes headless · determinismo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343400"/>
            <a:ext cx="384048" cy="384048"/>
          </a:xfrm>
          <a:prstGeom prst="ellipse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357116"/>
            <a:ext cx="384048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31596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Georgia"/>
              </a:rPr>
              <a:t>Correlação com a disciplina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379976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mapa aula → projeto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983480"/>
            <a:ext cx="384048" cy="384048"/>
          </a:xfrm>
          <a:prstGeom prst="ellipse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97196"/>
            <a:ext cx="384048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9560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Georgia"/>
              </a:rPr>
              <a:t>Demonstração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5020056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vídeo (~1,5 min) + perguntas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870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6E5F"/>
                </a:solidFill>
                <a:latin typeface="Calibri"/>
              </a:rPr>
              <a:t>3 demos ao vivo</a:t>
            </a:r>
            <a:r>
              <a:rPr sz="1300" b="0" i="0">
                <a:solidFill>
                  <a:srgbClr val="2C2C2C"/>
                </a:solidFill>
                <a:latin typeface="Calibri"/>
              </a:rPr>
              <a:t>  no caminho (integrador · timeline 60/30 Hz · pick-ray)   ·   </a:t>
            </a:r>
            <a:r>
              <a:rPr sz="1300" b="0" i="1">
                <a:solidFill>
                  <a:srgbClr val="6B7280"/>
                </a:solidFill>
                <a:latin typeface="Calibri"/>
              </a:rPr>
              <a:t>alvo ~19 min de fala, teto de 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46520"/>
            <a:ext cx="11064240" cy="11887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PingPongGame · Aim Roulette Pong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651052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Slide 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A03B3B"/>
                </a:solidFill>
                <a:latin typeface="Calibri"/>
              </a:rPr>
              <a:t>FÍSICA · POR QUÊ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A física da parcial era um placeholder honesto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5349240" cy="324612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B7280"/>
                </a:solidFill>
                <a:latin typeface="Calibri"/>
              </a:rPr>
              <a:t>NA PARCIAL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48006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200"/>
              </a:spcAft>
            </a:pPr>
            <a:r>
              <a:rPr sz="15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Quique = inverter a velocidade vertical </a:t>
            </a:r>
            <a:r>
              <a:rPr sz="1400" b="0" i="0">
                <a:solidFill>
                  <a:srgbClr val="2C2C2C"/>
                </a:solidFill>
                <a:latin typeface="Consolas"/>
              </a:rPr>
              <a:t>× 0.7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 — sem nenhum spin: a bola nunca curvava</a:t>
            </a:r>
          </a:p>
          <a:p>
            <a:pPr algn="l" marL="228600" indent="-228600">
              <a:spcAft>
                <a:spcPts val="1200"/>
              </a:spcAft>
            </a:pPr>
            <a:r>
              <a:rPr sz="15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Bot acertava por sorteio de dado</a:t>
            </a:r>
          </a:p>
          <a:p>
            <a:pPr algn="l" marL="228600" indent="-228600">
              <a:spcAft>
                <a:spcPts val="1200"/>
              </a:spcAft>
            </a:pPr>
            <a:r>
              <a:rPr sz="15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Saque com velocidade fixa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783080"/>
            <a:ext cx="5349240" cy="324612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783080"/>
            <a:ext cx="73152" cy="3246120"/>
          </a:xfrm>
          <a:prstGeom prst="rect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011680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6E5F"/>
                </a:solidFill>
                <a:latin typeface="Calibri"/>
              </a:rPr>
              <a:t>NO JOGO 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423160"/>
            <a:ext cx="48006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200"/>
              </a:spcAft>
            </a:pPr>
            <a:r>
              <a:rPr sz="15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2C2C2C"/>
                </a:solidFill>
                <a:latin typeface="Calibri"/>
              </a:rPr>
              <a:t>Integrador único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: gravidade + arrasto + efeito Magnus</a:t>
            </a:r>
          </a:p>
          <a:p>
            <a:pPr algn="l" marL="228600" indent="-228600">
              <a:spcAft>
                <a:spcPts val="1200"/>
              </a:spcAft>
            </a:pPr>
            <a:r>
              <a:rPr sz="15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O quique </a:t>
            </a:r>
            <a:r>
              <a:rPr sz="1500" b="1" i="0">
                <a:solidFill>
                  <a:srgbClr val="2C2C2C"/>
                </a:solidFill>
                <a:latin typeface="Calibri"/>
              </a:rPr>
              <a:t>acopla spin e velocidade</a:t>
            </a:r>
          </a:p>
          <a:p>
            <a:pPr algn="l" marL="228600" indent="-228600">
              <a:spcAft>
                <a:spcPts val="1200"/>
              </a:spcAft>
            </a:pPr>
            <a:r>
              <a:rPr sz="15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O bot </a:t>
            </a:r>
            <a:r>
              <a:rPr sz="1500" b="1" i="0">
                <a:solidFill>
                  <a:srgbClr val="2C2C2C"/>
                </a:solidFill>
                <a:latin typeface="Calibri"/>
              </a:rPr>
              <a:t>prevê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 a trajetória (forward-sim)</a:t>
            </a:r>
          </a:p>
          <a:p>
            <a:pPr algn="l" marL="228600" indent="-228600">
              <a:spcAft>
                <a:spcPts val="1200"/>
              </a:spcAft>
            </a:pPr>
            <a:r>
              <a:rPr sz="15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2C2C2C"/>
                </a:solidFill>
                <a:latin typeface="Calibri"/>
              </a:rPr>
              <a:t>Onde você clica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 decide mira, ritmo e efeito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1">
                <a:solidFill>
                  <a:srgbClr val="2C2C2C"/>
                </a:solidFill>
                <a:latin typeface="Calibri"/>
              </a:rPr>
              <a:t>A jogada deixou de ser “acertar o clique” e virou </a:t>
            </a:r>
            <a:r>
              <a:rPr sz="1600" b="1" i="1">
                <a:solidFill>
                  <a:srgbClr val="A03B3B"/>
                </a:solidFill>
                <a:latin typeface="Calibri"/>
              </a:rPr>
              <a:t>controlar o efeito</a:t>
            </a:r>
            <a:r>
              <a:rPr sz="1600" b="0" i="1">
                <a:solidFill>
                  <a:srgbClr val="2C2C2C"/>
                </a:solidFill>
                <a:latin typeface="Calibr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1887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PingPongGame · Aim Roulette Pong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51052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Slide 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A03B3B"/>
                </a:solidFill>
                <a:latin typeface="Calibri"/>
              </a:rPr>
              <a:t>FÍSICA · FUNDAMENTAÇÃO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Constantes de um paper, em unidades 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852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6E5F"/>
                </a:solidFill>
                <a:latin typeface="Calibri"/>
              </a:rPr>
              <a:t>A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84831"/>
            <a:ext cx="59893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C2C2C"/>
                </a:solidFill>
                <a:latin typeface="Calibri"/>
              </a:rPr>
              <a:t>Lin, Yu &amp; Huang (Sensors, 2020) — visão computacional para robôs de tênis de mesa. As constantes vêm medidas em unidades SI, então entram no jogo sem reconversão manual.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5852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6E5F"/>
                </a:solidFill>
                <a:latin typeface="Calibri"/>
              </a:rPr>
              <a:t>O QUE EU ACRESCENTEI POR CIMA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93592"/>
            <a:ext cx="5989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O paper declara que o modelo </a:t>
            </a:r>
            <a:r>
              <a:rPr sz="1400" b="1" i="0">
                <a:solidFill>
                  <a:srgbClr val="2C2C2C"/>
                </a:solidFill>
                <a:latin typeface="Calibri"/>
              </a:rPr>
              <a:t>não tinha Magnus nem atrito na mesa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 — exatamente o que eu adicionei</a:t>
            </a:r>
          </a:p>
          <a:p>
            <a:pPr algn="l" marL="228600" indent="-228600">
              <a:spcAft>
                <a:spcPts val="8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A predição de ponto de impacto (o problema central deles) virou o modelo do meu 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92040"/>
            <a:ext cx="5852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6E5F"/>
                </a:solidFill>
                <a:latin typeface="Calibri"/>
              </a:rPr>
              <a:t>REALISMO ≠ RITMO DE JOGO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39512"/>
            <a:ext cx="5989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onsolas"/>
              </a:rPr>
              <a:t>timeScale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 é uma câmera-lenta exata: multiplica o dt do integrador. A forma da trajetória continua fisicamente correta — só a reprodução desacelera.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1737360"/>
            <a:ext cx="4709160" cy="13716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901952"/>
            <a:ext cx="1600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A03B3B"/>
                </a:solidFill>
                <a:latin typeface="Georgia"/>
              </a:rPr>
              <a:t>0.92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956815"/>
            <a:ext cx="2606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restituição do quique — medida pelos autores em 330 trajetórias reais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3246120"/>
            <a:ext cx="4709160" cy="13716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3410712"/>
            <a:ext cx="1600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A03B3B"/>
                </a:solidFill>
                <a:latin typeface="Georgia"/>
              </a:rPr>
              <a:t>0.155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3465576"/>
            <a:ext cx="2606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coeficiente de arrasto k — derivado de Cd, densidade do ar, área e massa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4754879"/>
            <a:ext cx="4709160" cy="13716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4919471"/>
            <a:ext cx="1600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A03B3B"/>
                </a:solidFill>
                <a:latin typeface="Georgia"/>
              </a:rPr>
              <a:t>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4974336"/>
            <a:ext cx="2606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metros e segundos no núcleo da simulação; uma constante única converte para unidades de mundo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1887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PingPongGame · Aim Roulette Pong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651052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Slide 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A03B3B"/>
                </a:solidFill>
                <a:latin typeface="Calibri"/>
              </a:rPr>
              <a:t>FÍSICA · O INTEGRADOR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Euler semi-implícito com passo fixo de 240 Hz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8404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1A6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04120" y="411479"/>
            <a:ext cx="1508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DEMO AO VIVO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3949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</a:pPr>
            <a:r>
              <a:rPr sz="15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Passo fixo + acumulador → </a:t>
            </a:r>
            <a:r>
              <a:rPr sz="1500" b="1" i="0">
                <a:solidFill>
                  <a:srgbClr val="2C2C2C"/>
                </a:solidFill>
                <a:latin typeface="Calibri"/>
              </a:rPr>
              <a:t>determinístico e independente do FPS</a:t>
            </a:r>
          </a:p>
          <a:p>
            <a:pPr algn="l" marL="228600" indent="-228600">
              <a:spcAft>
                <a:spcPts val="1000"/>
              </a:spcAft>
            </a:pPr>
            <a:r>
              <a:rPr sz="15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Cada substep soma gravidade, arrasto quadrático e o termo de Magnus (spin × velocidade)</a:t>
            </a:r>
          </a:p>
          <a:p>
            <a:pPr algn="l" marL="228600" indent="-228600">
              <a:spcAft>
                <a:spcPts val="1000"/>
              </a:spcAft>
            </a:pPr>
            <a:r>
              <a:rPr sz="15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240 Hz divide 60 fps certinho e estabiliza o integrador (o paper usava 200 Hz)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A03B3B"/>
                </a:solidFill>
                <a:latin typeface="Calibri"/>
              </a:rPr>
              <a:t>CORRELAÇÃO COM A AULA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498848"/>
            <a:ext cx="5394960" cy="155448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4681728"/>
            <a:ext cx="48920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C2C2C"/>
                </a:solidFill>
                <a:latin typeface="Calibri"/>
              </a:rPr>
              <a:t>Na aula: multiplicar por </a:t>
            </a:r>
            <a:r>
              <a:rPr sz="1300" b="0" i="0">
                <a:solidFill>
                  <a:srgbClr val="2C2C2C"/>
                </a:solidFill>
                <a:latin typeface="Consolas"/>
              </a:rPr>
              <a:t>delta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 normaliza o movimento entre FPS. Para animação resolve — para física </a:t>
            </a:r>
            <a:r>
              <a:rPr sz="1400" b="1" i="0">
                <a:solidFill>
                  <a:srgbClr val="2C2C2C"/>
                </a:solidFill>
                <a:latin typeface="Calibri"/>
              </a:rPr>
              <a:t>não basta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: não é determinístico. Daí o degrau a mais: passo fixo com acumulador.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5303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6E5F"/>
                </a:solidFill>
                <a:latin typeface="Calibri"/>
              </a:rPr>
              <a:t>BALLPHYSICS.SUBSTEP() — O CÓDIGO REAL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21408"/>
            <a:ext cx="5321808" cy="27432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231136"/>
            <a:ext cx="4992624" cy="2523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Consolas"/>
              </a:rPr>
              <a:t>// gravidade + arrasto quadrático + Magnus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Consolas"/>
              </a:rPr>
              <a:t>accel.set(0f, -cfg.gravityW(), 0f);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Consolas"/>
              </a:rPr>
              <a:t>accel.mulAdd(s.vel, -cfg.dragKW() * vLen);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Consolas"/>
              </a:rPr>
              <a:t>magnus.set(s.spin).crs(s.vel)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Consolas"/>
              </a:rPr>
              <a:t>      .scl(cfg.magnusK);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Consolas"/>
              </a:rPr>
              <a:t>accel.add(magnus);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Consolas"/>
              </a:rPr>
              <a:t>// semi-implícito: velocidade antes da posição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Consolas"/>
              </a:rPr>
              <a:t>s.vel.mulAdd(accel, dt);   // dt = 1/240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Consolas"/>
              </a:rPr>
              <a:t>s.pos.mulAdd(s.vel, dt);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Consolas"/>
              </a:rPr>
              <a:t>s.spin.scl(1f - dt / cfg.spinDecayTauW());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074920"/>
            <a:ext cx="5303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6E5F"/>
                </a:solidFill>
                <a:latin typeface="Calibri"/>
              </a:rPr>
              <a:t>Demo: </a:t>
            </a:r>
            <a:r>
              <a:rPr sz="1300" b="0" i="0">
                <a:solidFill>
                  <a:srgbClr val="6B7280"/>
                </a:solidFill>
                <a:latin typeface="Calibri"/>
              </a:rPr>
              <a:t>sem spin, parábola; subindo o spin a curva aparece — topspin mergulha, sidespin desvia. Magnus liga/desliga para comparar.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1887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PingPongGame · Aim Roulette Pong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651052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Slide 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A03B3B"/>
                </a:solidFill>
                <a:latin typeface="Calibri"/>
              </a:rPr>
              <a:t>FÍSICA · CONTATOS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Quique com efeito &amp; a rede como colisor varrido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6E5F"/>
                </a:solidFill>
                <a:latin typeface="Calibri"/>
              </a:rPr>
              <a:t>QUIQUE NA MESA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30552"/>
            <a:ext cx="5394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9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Vertical: restituição </a:t>
            </a:r>
            <a:r>
              <a:rPr sz="1300" b="1" i="0">
                <a:solidFill>
                  <a:srgbClr val="2C2C2C"/>
                </a:solidFill>
                <a:latin typeface="Consolas"/>
              </a:rPr>
              <a:t>0.92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 (do paper)</a:t>
            </a:r>
          </a:p>
          <a:p>
            <a:pPr algn="l" marL="228600" indent="-228600">
              <a:spcAft>
                <a:spcPts val="9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Horizontal: </a:t>
            </a:r>
            <a:r>
              <a:rPr sz="1400" b="1" i="0">
                <a:solidFill>
                  <a:srgbClr val="2C2C2C"/>
                </a:solidFill>
                <a:latin typeface="Calibri"/>
              </a:rPr>
              <a:t>impulso de atrito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 que se opõe ao escorregamento no ponto de contato — é ele que acopla spin e velocidade</a:t>
            </a:r>
          </a:p>
          <a:p>
            <a:pPr algn="l" marL="228600" indent="-228600">
              <a:spcAft>
                <a:spcPts val="9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Topspin pega para a frente · backspin trava e morre · sidespin desvia para o lado</a:t>
            </a:r>
          </a:p>
          <a:p>
            <a:pPr algn="l" marL="228600" indent="-228600">
              <a:spcAft>
                <a:spcPts val="9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Inércia de esfera e teto de aderência 2/7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46320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A03B3B"/>
                </a:solidFill>
                <a:latin typeface="Calibri"/>
              </a:rPr>
              <a:t>DECISÃO DE REGRA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93792"/>
            <a:ext cx="5394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6B7280"/>
                </a:solidFill>
                <a:latin typeface="Calibri"/>
              </a:rPr>
              <a:t>Sem regra de “let”: a bola pinga por cima ou volta, e as regras pontuam o resultado — mais simples e mais divertido.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303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6E5F"/>
                </a:solidFill>
                <a:latin typeface="Calibri"/>
              </a:rPr>
              <a:t>REDE: DETECÇÃO CONTÍNUA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30552"/>
            <a:ext cx="5303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9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Em vez de testar um ponto, testa o segmento da posição anterior até a atual no cruzamento do plano da rede</a:t>
            </a:r>
          </a:p>
          <a:p>
            <a:pPr algn="l" marL="228600" indent="-228600">
              <a:spcAft>
                <a:spcPts val="9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A 60 fps a bola anda vários raios por frame — um teste pontual deixaria ela </a:t>
            </a:r>
            <a:r>
              <a:rPr sz="1400" b="1" i="0">
                <a:solidFill>
                  <a:srgbClr val="2C2C2C"/>
                </a:solidFill>
                <a:latin typeface="Calibri"/>
              </a:rPr>
              <a:t>atravessar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 a rede (tunneling)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4160520"/>
            <a:ext cx="5321808" cy="192024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5623560"/>
            <a:ext cx="4572000" cy="91440"/>
          </a:xfrm>
          <a:prstGeom prst="rect">
            <a:avLst/>
          </a:prstGeom>
          <a:solidFill>
            <a:srgbClr val="1A6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24544" y="4983480"/>
            <a:ext cx="41148" cy="640080"/>
          </a:xfrm>
          <a:prstGeom prst="rect">
            <a:avLst/>
          </a:prstGeom>
          <a:solidFill>
            <a:srgbClr val="E8C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5504688"/>
            <a:ext cx="64008" cy="64008"/>
          </a:xfrm>
          <a:prstGeom prst="ellipse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06640" y="5287734"/>
            <a:ext cx="64008" cy="64008"/>
          </a:xfrm>
          <a:prstGeom prst="ellipse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09560" y="5103809"/>
            <a:ext cx="64008" cy="64008"/>
          </a:xfrm>
          <a:prstGeom prst="ellipse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4980914"/>
            <a:ext cx="64008" cy="64008"/>
          </a:xfrm>
          <a:prstGeom prst="ellipse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15400" y="4937759"/>
            <a:ext cx="64008" cy="64008"/>
          </a:xfrm>
          <a:prstGeom prst="ellipse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18320" y="4980914"/>
            <a:ext cx="64008" cy="64008"/>
          </a:xfrm>
          <a:prstGeom prst="ellipse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21240" y="5103809"/>
            <a:ext cx="64008" cy="64008"/>
          </a:xfrm>
          <a:prstGeom prst="ellipse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24160" y="5287734"/>
            <a:ext cx="64008" cy="64008"/>
          </a:xfrm>
          <a:prstGeom prst="ellipse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27080" y="5504688"/>
            <a:ext cx="64008" cy="64008"/>
          </a:xfrm>
          <a:prstGeom prst="ellipse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31596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Consolas"/>
              </a:rPr>
              <a:t>segmento prev → atual testado no plano da rede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446520"/>
            <a:ext cx="11064240" cy="11887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PingPongGame · Aim Roulette Pong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651052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Slide 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A03B3B"/>
                </a:solidFill>
                <a:latin typeface="Calibri"/>
              </a:rPr>
              <a:t>FÍSICA · PADDLECONTACT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Onde você clica na bola importa</a:t>
            </a:r>
          </a:p>
        </p:txBody>
      </p:sp>
      <p:sp>
        <p:nvSpPr>
          <p:cNvPr id="4" name="Oval 3"/>
          <p:cNvSpPr/>
          <p:nvPr/>
        </p:nvSpPr>
        <p:spPr>
          <a:xfrm>
            <a:off x="1600199" y="2468880"/>
            <a:ext cx="2834640" cy="2834640"/>
          </a:xfrm>
          <a:prstGeom prst="ellipse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81911" y="3876141"/>
            <a:ext cx="2871216" cy="201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07461" y="2450592"/>
            <a:ext cx="20116" cy="28712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35224" y="3803904"/>
            <a:ext cx="164592" cy="164592"/>
          </a:xfrm>
          <a:prstGeom prst="ellipse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39" y="208483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A6E5F"/>
                </a:solidFill>
                <a:latin typeface="Calibri"/>
              </a:rPr>
              <a:t>topspin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39" y="541324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A6E5F"/>
                </a:solidFill>
                <a:latin typeface="Calibri"/>
              </a:rPr>
              <a:t>backspin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" y="3749039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A03B3B"/>
                </a:solidFill>
                <a:latin typeface="Calibri"/>
              </a:rPr>
              <a:t>mira +</a:t>
            </a:r>
          </a:p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A03B3B"/>
                </a:solidFill>
                <a:latin typeface="Calibri"/>
              </a:rPr>
              <a:t>sidespin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3749039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A03B3B"/>
                </a:solidFill>
                <a:latin typeface="Calibri"/>
              </a:rPr>
              <a:t>mira +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A03B3B"/>
                </a:solidFill>
                <a:latin typeface="Calibri"/>
              </a:rPr>
              <a:t>sidespin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39" y="4050791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Consolas"/>
              </a:rPr>
              <a:t>clique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874519"/>
            <a:ext cx="56235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200"/>
              </a:spcAft>
            </a:pPr>
            <a:r>
              <a:rPr sz="15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Deslocamento do clique em relação ao centro, normalizado entre </a:t>
            </a:r>
            <a:r>
              <a:rPr sz="1400" b="0" i="0">
                <a:solidFill>
                  <a:srgbClr val="2C2C2C"/>
                </a:solidFill>
                <a:latin typeface="Consolas"/>
              </a:rPr>
              <a:t>-1 e 1</a:t>
            </a:r>
          </a:p>
          <a:p>
            <a:pPr algn="l" marL="228600" indent="-228600">
              <a:spcAft>
                <a:spcPts val="1200"/>
              </a:spcAft>
            </a:pPr>
            <a:r>
              <a:rPr sz="15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Eixo horizontal → mira + sidespin (curva tipo hook)</a:t>
            </a:r>
          </a:p>
          <a:p>
            <a:pPr algn="l" marL="228600" indent="-228600">
              <a:spcAft>
                <a:spcPts val="1200"/>
              </a:spcAft>
            </a:pPr>
            <a:r>
              <a:rPr sz="15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Eixo vertical → topspin (em cima) ou backspin (embaixo)</a:t>
            </a:r>
          </a:p>
          <a:p>
            <a:pPr algn="l" marL="228600" indent="-228600">
              <a:spcAft>
                <a:spcPts val="1200"/>
              </a:spcAft>
            </a:pPr>
            <a:r>
              <a:rPr sz="15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O ritmo carrega parte da velocidade que a bola trouxe</a:t>
            </a:r>
          </a:p>
          <a:p>
            <a:pPr algn="l" marL="228600" indent="-228600">
              <a:spcAft>
                <a:spcPts val="1200"/>
              </a:spcAft>
            </a:pPr>
            <a:r>
              <a:rPr sz="15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2C2C2C"/>
                </a:solidFill>
                <a:latin typeface="Calibri"/>
              </a:rPr>
              <a:t>Clamps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 = teto físico de velocidade e spin — que de quebra serve como validação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4983480"/>
            <a:ext cx="5623560" cy="109728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4983480"/>
            <a:ext cx="73152" cy="1097280"/>
          </a:xfrm>
          <a:prstGeom prst="rect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5212080"/>
            <a:ext cx="5166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C2C2C"/>
                </a:solidFill>
                <a:latin typeface="Calibri"/>
              </a:rPr>
              <a:t>Saque, retorno e a rebatida do bot passam pela mesma função.
</a:t>
            </a:r>
          </a:p>
          <a:p>
            <a:pPr algn="l">
              <a:spcAft>
                <a:spcPts val="200"/>
              </a:spcAft>
            </a:pPr>
            <a:r>
              <a:rPr sz="1500" b="1" i="1">
                <a:solidFill>
                  <a:srgbClr val="A03B3B"/>
                </a:solidFill>
                <a:latin typeface="Calibri"/>
              </a:rPr>
              <a:t>Uma física só, três usos.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1887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PingPongGame · Aim Roulette Pong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651052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Slide 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A03B3B"/>
                </a:solidFill>
                <a:latin typeface="Calibri"/>
              </a:rPr>
              <a:t>REDES · AUTORIDADE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Uma única fonte de verdade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8404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1A6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04120" y="411479"/>
            <a:ext cx="1508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DEMO ·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3017520" cy="173736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P1 · NetMatchScreen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onsolas"/>
              </a:rPr>
              <a:t>render-only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onsolas"/>
              </a:rPr>
              <a:t>envia só o CLICK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691640"/>
            <a:ext cx="3840480" cy="1737360"/>
          </a:xfrm>
          <a:prstGeom prst="rect">
            <a:avLst/>
          </a:prstGeom>
          <a:solidFill>
            <a:srgbClr val="0E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874519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GameServer (headless)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28600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8C06A"/>
                </a:solidFill>
                <a:latin typeface="Consolas"/>
              </a:rPr>
              <a:t>simula a 60 Hz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8C06A"/>
                </a:solidFill>
                <a:latin typeface="Consolas"/>
              </a:rPr>
              <a:t>broadcast STATE a 30 Hz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8C06A"/>
                </a:solidFill>
                <a:latin typeface="Consolas"/>
              </a:rPr>
              <a:t>daemon thread no host — ou dedicado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1691640"/>
            <a:ext cx="3017520" cy="173736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9202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P2 · NetMatchScreen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33172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onsolas"/>
              </a:rPr>
              <a:t>render-only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onsolas"/>
              </a:rPr>
              <a:t>câmera em -Z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10312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A03B3B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25146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A6E5F"/>
                </a:solidFill>
                <a:latin typeface="Calibri"/>
              </a:rPr>
              <a:t>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2712" y="210312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A03B3B"/>
                </a:solidFill>
                <a:latin typeface="Calibri"/>
              </a:rPr>
              <a:t>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25146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A6E5F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61188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A03B3B"/>
                </a:solidFill>
                <a:latin typeface="Consolas"/>
              </a:rPr>
              <a:t>→ CLICK      </a:t>
            </a:r>
            <a:r>
              <a:rPr sz="1200" b="1" i="0">
                <a:solidFill>
                  <a:srgbClr val="1A6E5F"/>
                </a:solidFill>
                <a:latin typeface="Consolas"/>
              </a:rPr>
              <a:t>←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5394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Os clientes nunca decidem a partida: desenham e mandam input</a:t>
            </a:r>
          </a:p>
          <a:p>
            <a:pPr algn="l" marL="228600" indent="-228600">
              <a:spcAft>
                <a:spcPts val="8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Broadcast na metade da taxa de simulação = metade da banda</a:t>
            </a:r>
          </a:p>
          <a:p>
            <a:pPr algn="l" marL="228600" indent="-228600">
              <a:spcAft>
                <a:spcPts val="8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TCP: em LAN, ordem e garantia compensam e simplificam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160520"/>
            <a:ext cx="5303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A03B3B"/>
                </a:solidFill>
                <a:latin typeface="Calibri"/>
              </a:rPr>
              <a:t>CORRELAÇÃO COM A AULA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498848"/>
            <a:ext cx="5321808" cy="16002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4663440"/>
            <a:ext cx="48463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2C2C"/>
                </a:solidFill>
                <a:latin typeface="Calibri"/>
              </a:rPr>
              <a:t>A aula de redes mostra </a:t>
            </a:r>
            <a:r>
              <a:rPr sz="1200" b="0" i="0">
                <a:solidFill>
                  <a:srgbClr val="2C2C2C"/>
                </a:solidFill>
                <a:latin typeface="Consolas"/>
              </a:rPr>
              <a:t>ServerSocket.accept</a:t>
            </a:r>
            <a:r>
              <a:rPr sz="1300" b="0" i="0">
                <a:solidFill>
                  <a:srgbClr val="2C2C2C"/>
                </a:solidFill>
                <a:latin typeface="Calibri"/>
              </a:rPr>
              <a:t> + uma thread por conexão — é exatamente o que eu uso. O degrau acima: sair de request/response para um </a:t>
            </a:r>
            <a:r>
              <a:rPr sz="1300" b="1" i="0">
                <a:solidFill>
                  <a:srgbClr val="2C2C2C"/>
                </a:solidFill>
                <a:latin typeface="Calibri"/>
              </a:rPr>
              <a:t>loop autoritativo em tempo real</a:t>
            </a:r>
            <a:r>
              <a:rPr sz="1300" b="0" i="0">
                <a:solidFill>
                  <a:srgbClr val="2C2C2C"/>
                </a:solidFill>
                <a:latin typeface="Calibri"/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46520"/>
            <a:ext cx="11064240" cy="11887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PingPongGame · Aim Roulette Pong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651052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Slide 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A03B3B"/>
                </a:solidFill>
                <a:latin typeface="Calibri"/>
              </a:rPr>
              <a:t>REDES · PROTOCOLO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Protocolo binário escrito à mão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5760720" cy="2971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892807"/>
            <a:ext cx="5431536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onsolas"/>
              </a:rPr>
              <a:t>// Server → Client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onsolas"/>
              </a:rPr>
              <a:t>STATE      pos, vel, spin, vidas,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onsolas"/>
              </a:rPr>
              <a:t>           ativo, punchTimer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onsolas"/>
              </a:rPr>
              <a:t>ROUND_*    placar, fase de itens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onsolas"/>
              </a:rPr>
              <a:t>ITEMS      inventário (4 slots)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onsolas"/>
              </a:rPr>
              <a:t>LOG_EVENT  motivo do ponto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onsolas"/>
              </a:rPr>
              <a:t>// Client → Server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onsolas"/>
              </a:rPr>
              <a:t>CLICK      screenX, screenY, w, h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onsolas"/>
              </a:rPr>
              <a:t>USE_ITEM   slot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onsolas"/>
              </a:rPr>
              <a:t>READY     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C2C2C"/>
                </a:solidFill>
                <a:latin typeface="Calibri"/>
              </a:rPr>
              <a:t>O cliente, no sentido contrário, manda basicamente </a:t>
            </a:r>
            <a:r>
              <a:rPr sz="1400" b="1" i="0">
                <a:solidFill>
                  <a:srgbClr val="2C2C2C"/>
                </a:solidFill>
                <a:latin typeface="Calibri"/>
              </a:rPr>
              <a:t>só o CLICK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 — coordenadas de tela. É isso que sustenta o anti-cheat (próximo slide).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783080"/>
            <a:ext cx="4846320" cy="173736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965960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6E5F"/>
                </a:solidFill>
                <a:latin typeface="Calibri"/>
              </a:rPr>
              <a:t>ROOMCODE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304288"/>
            <a:ext cx="4297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C2C2C"/>
                </a:solidFill>
                <a:latin typeface="Calibri"/>
              </a:rPr>
              <a:t>O IP do host codificado em base-36: um código de 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A1A1A"/>
                </a:solidFill>
                <a:latin typeface="Georgia"/>
              </a:rPr>
              <a:t>7 letras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  em vez de “digite o IP”.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840480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A03B3B"/>
                </a:solidFill>
                <a:latin typeface="Calibri"/>
              </a:rPr>
              <a:t>CORRELAÇÃO + AUTORAL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4178808"/>
            <a:ext cx="4846320" cy="192024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4178808"/>
            <a:ext cx="73152" cy="1920240"/>
          </a:xfrm>
          <a:prstGeom prst="rect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4361688"/>
            <a:ext cx="43434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2C2C"/>
                </a:solidFill>
                <a:latin typeface="Calibri"/>
              </a:rPr>
              <a:t>A aula usa </a:t>
            </a:r>
            <a:r>
              <a:rPr sz="1200" b="0" i="0">
                <a:solidFill>
                  <a:srgbClr val="2C2C2C"/>
                </a:solidFill>
                <a:latin typeface="Consolas"/>
              </a:rPr>
              <a:t>ObjectOutputStream</a:t>
            </a:r>
            <a:r>
              <a:rPr sz="1300" b="0" i="0">
                <a:solidFill>
                  <a:srgbClr val="2C2C2C"/>
                </a:solidFill>
                <a:latin typeface="Calibri"/>
              </a:rPr>
              <a:t> (serialization do Java). Troquei por um protocolo binário à mão com </a:t>
            </a:r>
            <a:r>
              <a:rPr sz="1200" b="0" i="0">
                <a:solidFill>
                  <a:srgbClr val="2C2C2C"/>
                </a:solidFill>
                <a:latin typeface="Consolas"/>
              </a:rPr>
              <a:t>DataInputStream</a:t>
            </a:r>
            <a:r>
              <a:rPr sz="1300" b="0" i="0">
                <a:solidFill>
                  <a:srgbClr val="2C2C2C"/>
                </a:solidFill>
                <a:latin typeface="Calibri"/>
              </a:rPr>
              <a:t>: menor, mais rápido e sem reflexão — um byte de tipo + campos.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1887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PingPongGame · Aim Roulette Pong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651052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Slide 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A03B3B"/>
                </a:solidFill>
                <a:latin typeface="Calibri"/>
              </a:rPr>
              <a:t>REDES · ANTI-CHEAT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O cliente não é confiável — ele só clica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8404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1A6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04120" y="411479"/>
            <a:ext cx="1508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DEMO · PICK-RAY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514600" cy="132588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65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Cliente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3172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Consolas"/>
              </a:rPr>
              <a:t>clica → manda (px, py)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Consolas"/>
              </a:rPr>
              <a:t>em pixels de tela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33172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A03B3B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0712" y="1828800"/>
            <a:ext cx="2514600" cy="13258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5304" y="1965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Rede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233172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Consolas"/>
              </a:rPr>
              <a:t>só coordenadas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Consolas"/>
              </a:rPr>
              <a:t>viajam no fio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233172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A03B3B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3" y="1828800"/>
            <a:ext cx="2514600" cy="1325880"/>
          </a:xfrm>
          <a:prstGeom prst="rect">
            <a:avLst/>
          </a:prstGeom>
          <a:solidFill>
            <a:srgbClr val="0E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5" y="1965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Servidor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5" y="233172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E8C06A"/>
                </a:solidFill>
                <a:latin typeface="Consolas"/>
              </a:rPr>
              <a:t>ServerPickRay reconstrói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E8C06A"/>
                </a:solidFill>
                <a:latin typeface="Consolas"/>
              </a:rPr>
              <a:t>o raio da câmera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7384" y="233172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A03B3B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34856" y="1828800"/>
            <a:ext cx="2514600" cy="1325880"/>
          </a:xfrm>
          <a:prstGeom prst="rect">
            <a:avLst/>
          </a:prstGeom>
          <a:solidFill>
            <a:srgbClr val="0E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1965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Validação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233172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E8C06A"/>
                </a:solidFill>
                <a:latin typeface="Consolas"/>
              </a:rPr>
              <a:t>ray-sphere → HIT/MISS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E8C06A"/>
                </a:solidFill>
                <a:latin typeface="Consolas"/>
              </a:rPr>
              <a:t>física + clamps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11880"/>
            <a:ext cx="5577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9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onsolas"/>
              </a:rPr>
              <a:t>ServerPickRay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 é Java puro, sem JNI — roda no servidor headless</a:t>
            </a:r>
          </a:p>
          <a:p>
            <a:pPr algn="l" marL="228600" indent="-228600">
              <a:spcAft>
                <a:spcPts val="9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Os pacotes antigos que mandavam velocidade foram aposentados</a:t>
            </a:r>
          </a:p>
          <a:p>
            <a:pPr algn="l" marL="228600" indent="-228600">
              <a:spcAft>
                <a:spcPts val="9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Pode mentir no pixel — mas não consegue </a:t>
            </a:r>
            <a:r>
              <a:rPr sz="1400" b="1" i="0">
                <a:solidFill>
                  <a:srgbClr val="2C2C2C"/>
                </a:solidFill>
                <a:latin typeface="Calibri"/>
              </a:rPr>
              <a:t>forjar uma velocidade impossível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: quem converte para mundo e aplica a física é o servidor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61188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A03B3B"/>
                </a:solidFill>
                <a:latin typeface="Calibri"/>
              </a:rPr>
              <a:t>CORRELAÇÃO COM A AULA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950208"/>
            <a:ext cx="5138928" cy="141732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4133087"/>
            <a:ext cx="46634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2C2C"/>
                </a:solidFill>
                <a:latin typeface="Calibri"/>
              </a:rPr>
              <a:t>Na aula de câmeras, </a:t>
            </a:r>
            <a:r>
              <a:rPr sz="1200" b="0" i="0">
                <a:solidFill>
                  <a:srgbClr val="2C2C2C"/>
                </a:solidFill>
                <a:latin typeface="Consolas"/>
              </a:rPr>
              <a:t>project/unproject</a:t>
            </a:r>
            <a:r>
              <a:rPr sz="1300" b="0" i="0">
                <a:solidFill>
                  <a:srgbClr val="2C2C2C"/>
                </a:solidFill>
                <a:latin typeface="Calibri"/>
              </a:rPr>
              <a:t> calculam hitbox a partir do clique. Aqui esse unproject é refeito </a:t>
            </a:r>
            <a:r>
              <a:rPr sz="1300" b="1" i="0">
                <a:solidFill>
                  <a:srgbClr val="2C2C2C"/>
                </a:solidFill>
                <a:latin typeface="Calibri"/>
              </a:rPr>
              <a:t>no servidor</a:t>
            </a:r>
            <a:r>
              <a:rPr sz="1300" b="0" i="0">
                <a:solidFill>
                  <a:srgbClr val="2C2C2C"/>
                </a:solidFill>
                <a:latin typeface="Calibri"/>
              </a:rPr>
              <a:t>, por autoridade e segurança.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7150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A6E5F"/>
                </a:solidFill>
                <a:latin typeface="Calibri"/>
              </a:rPr>
              <a:t>Demo: </a:t>
            </a:r>
            <a:r>
              <a:rPr sz="1300" b="0" i="0">
                <a:solidFill>
                  <a:srgbClr val="6B7280"/>
                </a:solidFill>
                <a:latin typeface="Calibri"/>
              </a:rPr>
              <a:t>clico na bola → HIT; fora → MISS. No painel, só a coordenada viaja.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46520"/>
            <a:ext cx="11064240" cy="11887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PingPongGame · Aim Roulette Pong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651052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Slide 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A03B3B"/>
                </a:solidFill>
                <a:latin typeface="Calibri"/>
              </a:rPr>
              <a:t>REDES · SUAVIZAÇÃO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Dead reckoning com a física compartilhada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440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</a:pPr>
            <a:r>
              <a:rPr sz="15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O cliente desenha a 60+ fps, mas recebe estado a 30 Hz</a:t>
            </a:r>
          </a:p>
          <a:p>
            <a:pPr algn="l" marL="228600" indent="-228600">
              <a:spcAft>
                <a:spcPts val="1000"/>
              </a:spcAft>
            </a:pPr>
            <a:r>
              <a:rPr sz="15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Entre snapshots ele </a:t>
            </a:r>
            <a:r>
              <a:rPr sz="1500" b="1" i="0">
                <a:solidFill>
                  <a:srgbClr val="2C2C2C"/>
                </a:solidFill>
                <a:latin typeface="Calibri"/>
              </a:rPr>
              <a:t>extrapola com o mesmo BallPhysics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 do primeiro mergulho</a:t>
            </a:r>
          </a:p>
          <a:p>
            <a:pPr algn="l" marL="228600" indent="-228600">
              <a:spcAft>
                <a:spcPts val="1000"/>
              </a:spcAft>
            </a:pPr>
            <a:r>
              <a:rPr sz="15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O STATE carrega o spin → a curva no cliente bate </a:t>
            </a:r>
            <a:r>
              <a:rPr sz="1500" b="1" i="1">
                <a:solidFill>
                  <a:srgbClr val="2C2C2C"/>
                </a:solidFill>
                <a:latin typeface="Calibri"/>
              </a:rPr>
              <a:t>exatamente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 com a do servidor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069080"/>
            <a:ext cx="5440680" cy="118872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069080"/>
            <a:ext cx="73152" cy="1188720"/>
          </a:xfrm>
          <a:prstGeom prst="rect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2976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C2C2C"/>
                </a:solidFill>
                <a:latin typeface="Calibri"/>
              </a:rPr>
              <a:t>Reúso elegante: servidor, bot e cliente usam o </a:t>
            </a:r>
            <a:r>
              <a:rPr sz="1400" b="1" i="0">
                <a:solidFill>
                  <a:srgbClr val="2C2C2C"/>
                </a:solidFill>
                <a:latin typeface="Calibri"/>
              </a:rPr>
              <a:t>mesmo integrador</a:t>
            </a:r>
            <a:r>
              <a:rPr sz="1400" b="0" i="1">
                <a:solidFill>
                  <a:srgbClr val="A03B3B"/>
                </a:solidFill>
                <a:latin typeface="Calibri"/>
              </a:rPr>
              <a:t>. Uma física, três usos.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212080" cy="347472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993392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6E5F"/>
                </a:solidFill>
                <a:latin typeface="Calibri"/>
              </a:rPr>
              <a:t>DECISÃO CONSCIENTE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59152"/>
            <a:ext cx="4663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C2C2C"/>
                </a:solidFill>
                <a:latin typeface="Calibri"/>
              </a:rPr>
              <a:t>Extrapolação (dead reckoning) — </a:t>
            </a:r>
            <a:r>
              <a:rPr sz="1500" b="1" i="0">
                <a:solidFill>
                  <a:srgbClr val="2C2C2C"/>
                </a:solidFill>
                <a:latin typeface="Calibri"/>
              </a:rPr>
              <a:t>não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 client-side prediction com rollback.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200400"/>
            <a:ext cx="46634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9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Em LAN a latência é </a:t>
            </a:r>
            <a:r>
              <a:rPr sz="1300" b="1" i="0">
                <a:solidFill>
                  <a:srgbClr val="2C2C2C"/>
                </a:solidFill>
                <a:latin typeface="Consolas"/>
              </a:rPr>
              <a:t>&lt; 5 ms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 → ganho da prediction quase nulo</a:t>
            </a:r>
          </a:p>
          <a:p>
            <a:pPr algn="l" marL="228600" indent="-228600">
              <a:spcAft>
                <a:spcPts val="9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Custo de reconciliação (rollback) é alto</a:t>
            </a:r>
          </a:p>
          <a:p>
            <a:pPr algn="l" marL="228600" indent="-228600">
              <a:spcAft>
                <a:spcPts val="9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Para WAN eu revisitaria — com sequence numbers se fosse para UDP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1887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PingPongGame · Aim Roulette Pong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51052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Slide 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A03B3B"/>
                </a:solidFill>
                <a:latin typeface="Calibri"/>
              </a:rPr>
              <a:t>ITENS · A FASE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Best-of-3 com fase de itens entre pontos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920240" cy="100584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938528"/>
            <a:ext cx="170078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Ponto</a:t>
            </a:r>
          </a:p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perdido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17627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A03B3B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828800"/>
            <a:ext cx="1920240" cy="1005840"/>
          </a:xfrm>
          <a:prstGeom prst="rect">
            <a:avLst/>
          </a:prstGeom>
          <a:solidFill>
            <a:srgbClr val="0E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938528"/>
            <a:ext cx="170078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Servidor distribui</a:t>
            </a:r>
          </a:p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 itens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7627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A03B3B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828800"/>
            <a:ext cx="1920240" cy="100584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0368" y="1938528"/>
            <a:ext cx="170078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Jogadores</a:t>
            </a:r>
          </a:p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usam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79" y="217627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A03B3B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828800"/>
            <a:ext cx="1920240" cy="100584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7" y="1938528"/>
            <a:ext cx="170078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READY</a:t>
            </a:r>
          </a:p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×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17627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A03B3B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1828800"/>
            <a:ext cx="1920240" cy="100584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7" y="1938528"/>
            <a:ext cx="170078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Próximo</a:t>
            </a:r>
          </a:p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saque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46120"/>
            <a:ext cx="548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A03B3B"/>
                </a:solidFill>
                <a:latin typeface="Georg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346703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2C2C"/>
                </a:solidFill>
                <a:latin typeface="Calibri"/>
              </a:rPr>
              <a:t>vidas por round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04487"/>
            <a:ext cx="548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A03B3B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0050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2C2C"/>
                </a:solidFill>
                <a:latin typeface="Calibri"/>
              </a:rPr>
              <a:t>melhor de 3 rounds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62856"/>
            <a:ext cx="548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A03B3B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6634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C2C2C"/>
                </a:solidFill>
                <a:latin typeface="Calibri"/>
              </a:rPr>
              <a:t>slots de inventário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94960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Inspiração: </a:t>
            </a:r>
            <a:r>
              <a:rPr sz="1400" b="0" i="1">
                <a:solidFill>
                  <a:srgbClr val="2C2C2C"/>
                </a:solidFill>
                <a:latin typeface="Calibri"/>
              </a:rPr>
              <a:t>Buckshot Roulette</a:t>
            </a:r>
            <a:r>
              <a:rPr sz="1400" b="0" i="0">
                <a:solidFill>
                  <a:srgbClr val="6B7280"/>
                </a:solidFill>
                <a:latin typeface="Calibri"/>
              </a:rPr>
              <a:t> — a tensão entre pontos vem dos itens, não só do rally.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9184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6E5F"/>
                </a:solidFill>
                <a:latin typeface="Calibri"/>
              </a:rPr>
              <a:t>O PONTO TÉCNICO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630168"/>
            <a:ext cx="5138928" cy="246888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3840480"/>
            <a:ext cx="4617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C2C2C"/>
                </a:solidFill>
                <a:latin typeface="Calibri"/>
              </a:rPr>
              <a:t>A fase de itens é só mais um </a:t>
            </a:r>
            <a:r>
              <a:rPr sz="1400" b="1" i="0">
                <a:solidFill>
                  <a:srgbClr val="2C2C2C"/>
                </a:solidFill>
                <a:latin typeface="Calibri"/>
              </a:rPr>
              <a:t>estado da máquina autoritativa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, no servidor.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2C2C2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C2C2C"/>
                </a:solidFill>
                <a:latin typeface="Calibri"/>
              </a:rPr>
              <a:t>Roubar item, dar dano, aumentar a raquete — tudo precisa ser autoritativo, senão dá para trapacear. O cliente só desenha os cubos 3D e manda </a:t>
            </a:r>
            <a:r>
              <a:rPr sz="1300" b="0" i="0">
                <a:solidFill>
                  <a:srgbClr val="2C2C2C"/>
                </a:solidFill>
                <a:latin typeface="Consolas"/>
              </a:rPr>
              <a:t>USE_ITEM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46520"/>
            <a:ext cx="11064240" cy="11887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PingPongGame · Aim Roulette Pong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651052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Slide 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A03B3B"/>
                </a:solidFill>
                <a:latin typeface="Calibri"/>
              </a:rPr>
              <a:t>ITENS · CATÁLOGO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Nove itens, três tipos de efeito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A03B3B"/>
                </a:solidFill>
                <a:latin typeface="Calibri"/>
              </a:rPr>
              <a:t>INSTANTÂNEOS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3566160" cy="713232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1945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Patch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8716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Consolas"/>
              </a:rPr>
              <a:t>+1 vida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26079"/>
            <a:ext cx="3566160" cy="713232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01752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Coin Flip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10127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Consolas"/>
              </a:rPr>
              <a:t>50/50 — pode até te matar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3566160" cy="713232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840479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Steal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133087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Consolas"/>
              </a:rPr>
              <a:t>rouba item do oponente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737360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6E5F"/>
                </a:solidFill>
                <a:latin typeface="Calibri"/>
              </a:rPr>
              <a:t>PRÓXIMO RALLY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103120"/>
            <a:ext cx="3566160" cy="713232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21945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Wide Paddle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48716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Consolas"/>
              </a:rPr>
              <a:t>raquete maior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2926079"/>
            <a:ext cx="3566160" cy="713232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301752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Tiny Paddle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3310127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Consolas"/>
              </a:rPr>
              <a:t>raquete menor (no rival)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749039"/>
            <a:ext cx="3566160" cy="713232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840479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Slow-Mo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4133087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Consolas"/>
              </a:rPr>
              <a:t>câmera lenta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4572000"/>
            <a:ext cx="3566160" cy="713232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7992" y="46634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Fast Serve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2" y="495604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Consolas"/>
              </a:rPr>
              <a:t>saque acelerado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1737360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B07D2B"/>
                </a:solidFill>
                <a:latin typeface="Calibri"/>
              </a:rPr>
              <a:t>TEMPORIZADOS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103120"/>
            <a:ext cx="3566160" cy="713232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21945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Punch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248716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Consolas"/>
              </a:rPr>
              <a:t>borra a tela do oponente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2926079"/>
            <a:ext cx="3566160" cy="713232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301752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Fly Bait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3310127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Consolas"/>
              </a:rPr>
              <a:t>solta moscas — próximo slide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577840"/>
            <a:ext cx="11064240" cy="658368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577840"/>
            <a:ext cx="73152" cy="658368"/>
          </a:xfrm>
          <a:prstGeom prst="rect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70585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2C2C"/>
                </a:solidFill>
                <a:latin typeface="Calibri"/>
              </a:rPr>
              <a:t>Punch é o favorito de correlação: um </a:t>
            </a:r>
            <a:r>
              <a:rPr sz="1200" b="0" i="0">
                <a:solidFill>
                  <a:srgbClr val="1F2937"/>
                </a:solidFill>
                <a:latin typeface="Consolas"/>
              </a:rPr>
              <a:t>punchTimer</a:t>
            </a:r>
            <a:r>
              <a:rPr sz="1300" b="0" i="0">
                <a:solidFill>
                  <a:srgbClr val="2C2C2C"/>
                </a:solidFill>
                <a:latin typeface="Calibri"/>
              </a:rPr>
              <a:t> dentro do STATE dirige um </a:t>
            </a:r>
            <a:r>
              <a:rPr sz="1300" b="1" i="0">
                <a:solidFill>
                  <a:srgbClr val="2C2C2C"/>
                </a:solidFill>
                <a:latin typeface="Calibri"/>
              </a:rPr>
              <a:t>blur radial no shader retrô</a:t>
            </a:r>
            <a:r>
              <a:rPr sz="1300" b="0" i="0">
                <a:solidFill>
                  <a:srgbClr val="2C2C2C"/>
                </a:solidFill>
                <a:latin typeface="Calibri"/>
              </a:rPr>
              <a:t> — gameplay virando uniform de shader, reusando o FrameBuffer da parcial.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446520"/>
            <a:ext cx="11064240" cy="11887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PingPongGame · Aim Roulette Pong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651052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Slide 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A03B3B"/>
                </a:solidFill>
                <a:latin typeface="Calibri"/>
              </a:rPr>
              <a:t>ITENS · MOSCAS &amp;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Sub-alvos e o fim do “por que perdi esse ponto?”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6E5F"/>
                </a:solidFill>
                <a:latin typeface="Calibri"/>
              </a:rPr>
              <a:t>FLY BAIT → MOSCAS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30552"/>
            <a:ext cx="5440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</a:pPr>
            <a:r>
              <a:rPr sz="15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Moscas aparecem no lado do oponente</a:t>
            </a:r>
          </a:p>
          <a:p>
            <a:pPr algn="l" marL="228600" indent="-228600">
              <a:spcAft>
                <a:spcPts val="1000"/>
              </a:spcAft>
            </a:pPr>
            <a:r>
              <a:rPr sz="15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Matar = clicar — o </a:t>
            </a:r>
            <a:r>
              <a:rPr sz="1500" b="1" i="0">
                <a:solidFill>
                  <a:srgbClr val="2C2C2C"/>
                </a:solidFill>
                <a:latin typeface="Calibri"/>
              </a:rPr>
              <a:t>mesmo teste ray-sphere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 do acerto da bola</a:t>
            </a:r>
          </a:p>
          <a:p>
            <a:pPr algn="l" marL="228600" indent="-228600">
              <a:spcAft>
                <a:spcPts val="1000"/>
              </a:spcAft>
            </a:pPr>
            <a:r>
              <a:rPr sz="15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C2C2C"/>
                </a:solidFill>
                <a:latin typeface="Calibri"/>
              </a:rPr>
              <a:t>Se a bola tocar uma mosca viva, o dono do lado perde vida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A03B3B"/>
                </a:solidFill>
                <a:latin typeface="Calibri"/>
              </a:rPr>
              <a:t>CORRELAÇÃO COM A AULA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544568"/>
            <a:ext cx="5440680" cy="1143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709160"/>
            <a:ext cx="4937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2C2C"/>
                </a:solidFill>
                <a:latin typeface="Calibri"/>
              </a:rPr>
              <a:t>Menu, partida, fase de itens e mata-mosca são contextos de input diferentes — e mosca e bola compartilham o mesmo clique 3D.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6E5F"/>
                </a:solidFill>
                <a:latin typeface="Calibri"/>
              </a:rPr>
              <a:t>LOG_EVENT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30552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C2C2C"/>
                </a:solidFill>
                <a:latin typeface="Calibri"/>
              </a:rPr>
              <a:t>O servidor manda o motivo de cada ponto; o cliente mostra num log: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788920"/>
            <a:ext cx="5212080" cy="21031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898648"/>
            <a:ext cx="4882896" cy="18836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onsolas"/>
              </a:rPr>
              <a:t>P2 +1  ·  volley na rede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onsolas"/>
              </a:rPr>
              <a:t>P1 -1  ·  quique duplo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onsolas"/>
              </a:rPr>
              <a:t>P2 -1  ·  bola fora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onsolas"/>
              </a:rPr>
              <a:t>P1 -1  ·  timeout do saque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onsolas"/>
              </a:rPr>
              <a:t>P2 -1  ·  mosca atingida pela bola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onsolas"/>
              </a:rPr>
              <a:t>P1 ±?  ·  coin flip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074920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Resolve o clássico “por que eu perdi esse ponto?” — sem abrir o código.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1887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PingPongGame · Aim Roulette Pong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651052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Slide 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A03B3B"/>
                </a:solidFill>
                <a:latin typeface="Calibri"/>
              </a:rPr>
              <a:t>ENGENHARIA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Quatro módulos e testes headless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5394960" cy="786384"/>
          </a:xfrm>
          <a:prstGeom prst="rect">
            <a:avLst/>
          </a:prstGeom>
          <a:solidFill>
            <a:srgbClr val="0E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92807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2002536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8C06A"/>
                </a:solidFill>
                <a:latin typeface="Calibri"/>
              </a:rPr>
              <a:t>física · protocolo · servidor — sem UI do libGDX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15768"/>
            <a:ext cx="5394960" cy="786384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25496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onsolas"/>
              </a:rPr>
              <a:t>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935224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o cliente (telas, render, input)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48456"/>
            <a:ext cx="5394960" cy="786384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5818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onsolas"/>
              </a:rPr>
              <a:t>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3867912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só o main do servidor dedicado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81144"/>
            <a:ext cx="5394960" cy="786384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690872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onsolas"/>
              </a:rPr>
              <a:t>lwjgl3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480060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o launcher desktop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2356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core, server e lwjgl3 dependem de sim — nunca o contrário.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6E5F"/>
                </a:solidFill>
                <a:latin typeface="Calibri"/>
              </a:rPr>
              <a:t>COMO O SIM NÃO TEM JANELA…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30552"/>
            <a:ext cx="52120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9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Roda no JVM headless e é testado com </a:t>
            </a:r>
            <a:r>
              <a:rPr sz="1400" b="1" i="0">
                <a:solidFill>
                  <a:srgbClr val="2C2C2C"/>
                </a:solidFill>
                <a:latin typeface="Calibri"/>
              </a:rPr>
              <a:t>JUnit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: voo, quique, rede, contato da raquete</a:t>
            </a:r>
          </a:p>
          <a:p>
            <a:pPr algn="l" marL="228600" indent="-228600">
              <a:spcAft>
                <a:spcPts val="9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Teste de </a:t>
            </a:r>
            <a:r>
              <a:rPr sz="1400" b="1" i="0">
                <a:solidFill>
                  <a:srgbClr val="2C2C2C"/>
                </a:solidFill>
                <a:latin typeface="Calibri"/>
              </a:rPr>
              <a:t>determinismo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: mesma seed → trajetória bit-idêntica</a:t>
            </a:r>
          </a:p>
          <a:p>
            <a:pPr algn="l" marL="228600" indent="-228600">
              <a:spcAft>
                <a:spcPts val="9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Bot calibrado por </a:t>
            </a:r>
            <a:r>
              <a:rPr sz="1400" b="1" i="0">
                <a:solidFill>
                  <a:srgbClr val="2C2C2C"/>
                </a:solidFill>
                <a:latin typeface="Calibri"/>
              </a:rPr>
              <a:t>Monte-Carlo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 para ~0.73 de taxa de retorno — substituiu o sorteio de dado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26280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A03B3B"/>
                </a:solidFill>
                <a:latin typeface="Calibri"/>
              </a:rPr>
              <a:t>CORRELAÇÃO COM A AULA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864608"/>
            <a:ext cx="5212080" cy="123444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5029200"/>
            <a:ext cx="47091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2C2C"/>
                </a:solidFill>
                <a:latin typeface="Calibri"/>
              </a:rPr>
              <a:t>A aula de módulos e ciclo de vida, um degrau adiante: um módulo de simulação isolado e testável é o que torna o servidor headless e o anti-cheat possíveis.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46520"/>
            <a:ext cx="11064240" cy="11887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PingPongGame · Aim Roulette Pong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651052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Slide 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A03B3B"/>
                </a:solidFill>
                <a:latin typeface="Calibri"/>
              </a:rPr>
              <a:t>CORRELAÇÃO · EM NEGRITO, O NOVO DESDE A PARCIAL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Cada aula aparece no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64792"/>
            <a:ext cx="11064240" cy="694944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Ciclo de vida &amp; módulos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892807"/>
            <a:ext cx="7726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C2C2C"/>
                </a:solidFill>
                <a:latin typeface="Calibri"/>
              </a:rPr>
              <a:t>GameContext · Screens</a:t>
            </a:r>
            <a:r>
              <a:rPr sz="1300" b="1" i="0">
                <a:solidFill>
                  <a:srgbClr val="2C2C2C"/>
                </a:solidFill>
                <a:latin typeface="Calibri"/>
              </a:rPr>
              <a:t>  +  split em 4 módulos, sim testável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39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Câmeras &amp; rendering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624327"/>
            <a:ext cx="7726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C2C2C"/>
                </a:solidFill>
                <a:latin typeface="Calibri"/>
              </a:rPr>
              <a:t>FitViewport · FBO retrô</a:t>
            </a:r>
            <a:r>
              <a:rPr sz="1300" b="1" i="0">
                <a:solidFill>
                  <a:srgbClr val="2C2C2C"/>
                </a:solidFill>
                <a:latin typeface="Calibri"/>
              </a:rPr>
              <a:t>  +  delta → passo fixo 240 Hz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27832"/>
            <a:ext cx="11064240" cy="694944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37559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Input treatment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355847"/>
            <a:ext cx="7726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C2C2C"/>
                </a:solidFill>
                <a:latin typeface="Calibri"/>
              </a:rPr>
              <a:t>pick-ray</a:t>
            </a:r>
            <a:r>
              <a:rPr sz="1300" b="1" i="0">
                <a:solidFill>
                  <a:srgbClr val="2C2C2C"/>
                </a:solidFill>
                <a:latin typeface="Calibri"/>
              </a:rPr>
              <a:t>  +  multi-contexto: menu, partida, itens, mata-mosca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69079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Memória &amp; pooling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087368"/>
            <a:ext cx="7726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C2C2C"/>
                </a:solidFill>
                <a:latin typeface="Calibri"/>
              </a:rPr>
              <a:t>Pool · Disposable</a:t>
            </a:r>
            <a:r>
              <a:rPr sz="1300" b="1" i="0">
                <a:solidFill>
                  <a:srgbClr val="2C2C2C"/>
                </a:solidFill>
                <a:latin typeface="Calibri"/>
              </a:rPr>
              <a:t>  +  buffers de pacote reutilizados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690871"/>
            <a:ext cx="11064240" cy="694944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00599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Redes (sockets Java)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818888"/>
            <a:ext cx="7726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C2C2C"/>
                </a:solidFill>
                <a:latin typeface="Calibri"/>
              </a:rPr>
              <a:t>accept + thread/conexão</a:t>
            </a:r>
            <a:r>
              <a:rPr sz="1300" b="1" i="0">
                <a:solidFill>
                  <a:srgbClr val="2C2C2C"/>
                </a:solidFill>
                <a:latin typeface="Calibri"/>
              </a:rPr>
              <a:t>  +  protocolo binário, servidor autoritativo, anti-cheat, dead reckoning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532119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Scene2D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5550407"/>
            <a:ext cx="7726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B7280"/>
                </a:solidFill>
                <a:latin typeface="Calibri"/>
              </a:rPr>
              <a:t>não usei — UI na mão, de propósito, pela estética retrô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1887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PingPongGame · Aim Roulette Pong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651052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Slide 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A03B3B"/>
                </a:solidFill>
                <a:latin typeface="Calibri"/>
              </a:rPr>
              <a:t>DEMONSTRAÇÃO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Demo em vídeo (~1,5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6492240" cy="3977639"/>
          </a:xfrm>
          <a:prstGeom prst="rect">
            <a:avLst/>
          </a:prstGeom>
          <a:solidFill>
            <a:srgbClr val="0E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337560" y="3310128"/>
            <a:ext cx="914400" cy="914400"/>
          </a:xfrm>
          <a:prstGeom prst="ellipse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37560" y="3419856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8C06A"/>
                </a:solidFill>
                <a:latin typeface="Consolas"/>
              </a:rPr>
              <a:t>demo.mp4 — gravado nas duas janelas (HOST / JOIN)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78308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6E5F"/>
                </a:solidFill>
                <a:latin typeface="Calibri"/>
              </a:rPr>
              <a:t>O QUE REPARAR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130552"/>
            <a:ext cx="422452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9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A bola </a:t>
            </a:r>
            <a:r>
              <a:rPr sz="1400" b="1" i="0">
                <a:solidFill>
                  <a:srgbClr val="2C2C2C"/>
                </a:solidFill>
                <a:latin typeface="Calibri"/>
              </a:rPr>
              <a:t>curvando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 — é o Magnus</a:t>
            </a:r>
          </a:p>
          <a:p>
            <a:pPr algn="l" marL="228600" indent="-228600">
              <a:spcAft>
                <a:spcPts val="9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O quique diferente com topspin</a:t>
            </a:r>
          </a:p>
          <a:p>
            <a:pPr algn="l" marL="228600" indent="-228600">
              <a:spcAft>
                <a:spcPts val="9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Duas janelas sincronizadas, sem travar</a:t>
            </a:r>
          </a:p>
          <a:p>
            <a:pPr algn="l" marL="228600" indent="-228600">
              <a:spcAft>
                <a:spcPts val="9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A fase de itens entre pontos</a:t>
            </a:r>
          </a:p>
          <a:p>
            <a:pPr algn="l" marL="228600" indent="-228600">
              <a:spcAft>
                <a:spcPts val="900"/>
              </a:spcAft>
            </a:pPr>
            <a:r>
              <a:rPr sz="1400" b="1" i="0">
                <a:solidFill>
                  <a:srgbClr val="A03B3B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C2C2C"/>
                </a:solidFill>
                <a:latin typeface="Calibri"/>
              </a:rPr>
              <a:t>As moscas do Fly Bait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4754880"/>
            <a:ext cx="4224528" cy="100584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4910328"/>
            <a:ext cx="3794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Plano B ao vivo: 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Consolas"/>
              </a:rPr>
              <a:t>./gradlew lwjgl3:run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1887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PingPongGame · Aim Roulette Pong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51052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Slide 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A03B3B"/>
                </a:solidFill>
                <a:latin typeface="Calibri"/>
              </a:rPr>
              <a:t>ENCERRAMENTO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Georgia"/>
              </a:rPr>
              <a:t>O que 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74519"/>
            <a:ext cx="3566160" cy="201168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73152" cy="2011680"/>
          </a:xfrm>
          <a:prstGeom prst="rect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A1A1A"/>
                </a:solidFill>
                <a:latin typeface="Georgia"/>
              </a:rPr>
              <a:t>Física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9748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2C2C"/>
                </a:solidFill>
                <a:latin typeface="Calibri"/>
              </a:rPr>
              <a:t>fundamentada em um paper revisado, com constantes SI reais — e determinística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874519"/>
            <a:ext cx="3566160" cy="201168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874519"/>
            <a:ext cx="73152" cy="2011680"/>
          </a:xfrm>
          <a:prstGeom prst="rect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488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A1A1A"/>
                </a:solidFill>
                <a:latin typeface="Georgia"/>
              </a:rPr>
              <a:t>Multiplayer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9748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2C2C"/>
                </a:solidFill>
                <a:latin typeface="Calibri"/>
              </a:rPr>
              <a:t>servidor autoritativo, protocolo binário, anti-cheat e dead reckoning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874519"/>
            <a:ext cx="3566160" cy="201168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874519"/>
            <a:ext cx="73152" cy="2011680"/>
          </a:xfrm>
          <a:prstGeom prst="rect">
            <a:avLst/>
          </a:prstGeom>
          <a:solidFill>
            <a:srgbClr val="A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1488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A1A1A"/>
                </a:solidFill>
                <a:latin typeface="Georgia"/>
              </a:rPr>
              <a:t>Itens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9748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C2C2C"/>
                </a:solidFill>
                <a:latin typeface="Calibri"/>
              </a:rPr>
              <a:t>uma fase própria, nove itens autoritativos, moscas e log de eventos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1">
                <a:solidFill>
                  <a:srgbClr val="6B7280"/>
                </a:solidFill>
                <a:latin typeface="Calibri"/>
              </a:rPr>
              <a:t>Tudo testável — e correlacionado com a disciplina.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 i="0">
                <a:solidFill>
                  <a:srgbClr val="1A1A1A"/>
                </a:solidFill>
                <a:latin typeface="Georgia"/>
              </a:rPr>
              <a:t>Obrigado!</a:t>
            </a:r>
            <a:r>
              <a:rPr sz="2400" b="0" i="0">
                <a:solidFill>
                  <a:srgbClr val="A03B3B"/>
                </a:solidFill>
                <a:latin typeface="Georgia"/>
              </a:rPr>
              <a:t>   ·   Perguntas?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1887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PingPongGame · Aim Roulette Pong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651052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Slide 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